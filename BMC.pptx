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</p:sldIdLst>
  <p:sldSz cy="8229600" cx="14630400"/>
  <p:notesSz cx="8229600" cy="14630400"/>
  <p:embeddedFontLst>
    <p:embeddedFont>
      <p:font typeface="Nunito Sans SemiBold"/>
      <p:regular r:id="rId7"/>
      <p:bold r:id="rId8"/>
      <p:italic r:id="rId9"/>
      <p:boldItalic r:id="rId10"/>
    </p:embeddedFont>
    <p:embeddedFont>
      <p:font typeface="Nunito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159E4A-5783-4F76-A142-24A60BF2A376}">
  <a:tblStyle styleId="{19159E4A-5783-4F76-A142-24A60BF2A3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Sa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SansSemiBold-regular.fntdata"/><Relationship Id="rId8" Type="http://schemas.openxmlformats.org/officeDocument/2006/relationships/font" Target="fonts/NunitoSansSemiBold-bold.fntdata"/><Relationship Id="rId11" Type="http://schemas.openxmlformats.org/officeDocument/2006/relationships/font" Target="fonts/NunitoSans-regular.fntdata"/><Relationship Id="rId10" Type="http://schemas.openxmlformats.org/officeDocument/2006/relationships/font" Target="fonts/NunitoSansSemiBold-boldItalic.fntdata"/><Relationship Id="rId13" Type="http://schemas.openxmlformats.org/officeDocument/2006/relationships/font" Target="fonts/NunitoSans-italic.fntdata"/><Relationship Id="rId12" Type="http://schemas.openxmlformats.org/officeDocument/2006/relationships/font" Target="fonts/NunitoSans-bold.fntdata"/><Relationship Id="rId14" Type="http://schemas.openxmlformats.org/officeDocument/2006/relationships/font" Target="fonts/Nunito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7 master">
  <p:cSld name="Slide 27 master"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8 master">
  <p:cSld name="Slide 28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9 master">
  <p:cSld name="Slide 29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0 master">
  <p:cSld name="Slide 30 master"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1 master">
  <p:cSld name="Slide 31 master"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4"/>
          <p:cNvSpPr/>
          <p:nvPr/>
        </p:nvSpPr>
        <p:spPr>
          <a:xfrm>
            <a:off x="793790" y="888206"/>
            <a:ext cx="7492484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Nunito Sans SemiBold"/>
              <a:buNone/>
            </a:pPr>
            <a:r>
              <a:rPr b="1" i="0" lang="fr-FR" sz="3300" u="none" cap="none" strike="noStrike">
                <a:solidFill>
                  <a:srgbClr val="000000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Les 9 Blocs du Business Model Canvas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97401" y="228600"/>
            <a:ext cx="904399" cy="51804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34"/>
          <p:cNvGraphicFramePr/>
          <p:nvPr/>
        </p:nvGraphicFramePr>
        <p:xfrm>
          <a:off x="807720" y="14282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{19159E4A-5783-4F76-A142-24A60BF2A376}</a:tableStyleId>
              </a:tblPr>
              <a:tblGrid>
                <a:gridCol w="2594900"/>
                <a:gridCol w="2608825"/>
                <a:gridCol w="1304425"/>
                <a:gridCol w="1304425"/>
                <a:gridCol w="2608825"/>
                <a:gridCol w="2608825"/>
              </a:tblGrid>
              <a:tr h="21215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unito Sans SemiBold"/>
                        <a:buNone/>
                      </a:pPr>
                      <a:r>
                        <a:rPr b="1" lang="fr-FR" sz="1800" u="none" cap="none" strike="noStrike">
                          <a:solidFill>
                            <a:srgbClr val="000000"/>
                          </a:solidFill>
                          <a:latin typeface="Nunito Sans SemiBold"/>
                          <a:ea typeface="Nunito Sans SemiBold"/>
                          <a:cs typeface="Nunito Sans SemiBold"/>
                          <a:sym typeface="Nunito Sans SemiBold"/>
                        </a:rPr>
                        <a:t>8. Partenaires clés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Nunito Sans SemiBold"/>
                        <a:buChar char="●"/>
                      </a:pPr>
                      <a:r>
                        <a:rPr lang="fr-FR" sz="1800">
                          <a:solidFill>
                            <a:srgbClr val="000000"/>
                          </a:solidFill>
                        </a:rPr>
                        <a:t>Fournisseurs de paiement (Orange Money, MVola, banques...)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Nunito Sans SemiBold"/>
                        <a:buChar char="●"/>
                      </a:pPr>
                      <a:r>
                        <a:rPr lang="fr-FR" sz="1800">
                          <a:solidFill>
                            <a:srgbClr val="000000"/>
                          </a:solidFill>
                        </a:rPr>
                        <a:t>Hébergeur Cloud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Nunito Sans SemiBold"/>
                        <a:buChar char="●"/>
                      </a:pPr>
                      <a:r>
                        <a:rPr lang="fr-FR" sz="1800">
                          <a:solidFill>
                            <a:srgbClr val="000000"/>
                          </a:solidFill>
                        </a:rPr>
                        <a:t>Prestataires événementiels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>
                          <a:solidFill>
                            <a:srgbClr val="000000"/>
                          </a:solidFill>
                        </a:rPr>
                        <a:t>Sponsors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unito Sans SemiBold"/>
                        <a:buNone/>
                      </a:pPr>
                      <a:r>
                        <a:rPr b="1" lang="fr-FR" sz="1800" u="none" cap="none" strike="noStrike">
                          <a:solidFill>
                            <a:srgbClr val="000000"/>
                          </a:solidFill>
                          <a:latin typeface="Nunito Sans SemiBold"/>
                          <a:ea typeface="Nunito Sans SemiBold"/>
                          <a:cs typeface="Nunito Sans SemiBold"/>
                          <a:sym typeface="Nunito Sans SemiBold"/>
                        </a:rPr>
                        <a:t>6. Activités clés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Développement logiciel</a:t>
                      </a:r>
                      <a:endParaRPr sz="18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Maintenance de la plateforme</a:t>
                      </a:r>
                      <a:endParaRPr sz="18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Hébergement</a:t>
                      </a:r>
                      <a:endParaRPr sz="18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Sécurité</a:t>
                      </a:r>
                      <a:endParaRPr sz="18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Support utilisateur</a:t>
                      </a:r>
                      <a:endParaRPr sz="18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Gestion des paiements</a:t>
                      </a:r>
                      <a:endParaRPr sz="18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Développement de nouvelles fonctionnalités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Marketing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000000"/>
                        </a:solidFill>
                        <a:latin typeface="Nunito Sans SemiBold"/>
                        <a:ea typeface="Nunito Sans SemiBold"/>
                        <a:cs typeface="Nunito Sans SemiBold"/>
                        <a:sym typeface="Nunito Sans SemiBold"/>
                      </a:endParaRPr>
                    </a:p>
                  </a:txBody>
                  <a:tcPr marT="45725" marB="45725" marR="91450" marL="91450">
                    <a:solidFill>
                      <a:srgbClr val="FFCD00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unito Sans SemiBold"/>
                        <a:buNone/>
                      </a:pPr>
                      <a:r>
                        <a:rPr b="1" lang="fr-FR" sz="1800" u="none" cap="none" strike="noStrike">
                          <a:solidFill>
                            <a:srgbClr val="000000"/>
                          </a:solidFill>
                          <a:latin typeface="Nunito Sans SemiBold"/>
                          <a:ea typeface="Nunito Sans SemiBold"/>
                          <a:cs typeface="Nunito Sans SemiBold"/>
                          <a:sym typeface="Nunito Sans SemiBold"/>
                        </a:rPr>
                        <a:t>2. Proposition de valeur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-3175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Plateforme tout-en-un pour créer et gérer un événement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Billetterie intégrée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Réseau social dédié à chaque événement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Recherche de partenaires directement sur la plateforme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Gestion simple des invitations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Tableau de bord organisateur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Nunito Sans SemiBold"/>
                        <a:ea typeface="Nunito Sans SemiBold"/>
                        <a:cs typeface="Nunito Sans SemiBold"/>
                        <a:sym typeface="Nunito Sans SemiBold"/>
                      </a:endParaRPr>
                    </a:p>
                  </a:txBody>
                  <a:tcPr marT="45725" marB="45725" marR="91450" marL="91450">
                    <a:solidFill>
                      <a:srgbClr val="FFCD00"/>
                    </a:solidFill>
                  </a:tcPr>
                </a:tc>
                <a:tc rowSpan="2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unito Sans SemiBold"/>
                        <a:buNone/>
                      </a:pPr>
                      <a:r>
                        <a:rPr b="1" lang="fr-FR" sz="1800">
                          <a:solidFill>
                            <a:srgbClr val="000000"/>
                          </a:solidFill>
                          <a:latin typeface="Nunito Sans SemiBold"/>
                          <a:ea typeface="Nunito Sans SemiBold"/>
                          <a:cs typeface="Nunito Sans SemiBold"/>
                          <a:sym typeface="Nunito Sans SemiBold"/>
                        </a:rPr>
                        <a:t>4. Relations Clients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Nunito Sans SemiBold"/>
                        <a:ea typeface="Nunito Sans SemiBold"/>
                        <a:cs typeface="Nunito Sans SemiBold"/>
                        <a:sym typeface="Nunito Sans SemiBol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Support par email</a:t>
                      </a:r>
                      <a:endParaRPr sz="18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FAQ</a:t>
                      </a:r>
                      <a:endParaRPr sz="18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Réseaux sociaux</a:t>
                      </a:r>
                      <a:endParaRPr sz="18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Assistance pendant les événements</a:t>
                      </a:r>
                      <a:endParaRPr sz="18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Notifications</a:t>
                      </a:r>
                      <a:endParaRPr sz="180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Nunito Sans SemiBold"/>
                        <a:ea typeface="Nunito Sans SemiBold"/>
                        <a:cs typeface="Nunito Sans SemiBold"/>
                        <a:sym typeface="Nunito Sans SemiBold"/>
                      </a:endParaRPr>
                    </a:p>
                  </a:txBody>
                  <a:tcPr marT="45725" marB="45725" marR="91450" marL="91450">
                    <a:solidFill>
                      <a:srgbClr val="FFCD0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unito Sans SemiBold"/>
                        <a:buNone/>
                      </a:pPr>
                      <a:r>
                        <a:rPr b="1" lang="fr-FR" sz="1800">
                          <a:solidFill>
                            <a:srgbClr val="000000"/>
                          </a:solidFill>
                          <a:latin typeface="Nunito Sans SemiBold"/>
                          <a:ea typeface="Nunito Sans SemiBold"/>
                          <a:cs typeface="Nunito Sans SemiBold"/>
                          <a:sym typeface="Nunito Sans SemiBold"/>
                        </a:rPr>
                        <a:t>1. Segments de clientèle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Particuliers organisant des événement</a:t>
                      </a:r>
                      <a:r>
                        <a:rPr lang="fr-FR" sz="1800"/>
                        <a:t>s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Organisateurs professionnels d'événements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Prestataires (photographes, DJ, traiteurs, salles...)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PME et entreprises voulant </a:t>
                      </a:r>
                      <a:r>
                        <a:rPr lang="fr-FR" sz="1800"/>
                        <a:t>être</a:t>
                      </a:r>
                      <a:r>
                        <a:rPr lang="fr-FR" sz="1800"/>
                        <a:t> fournisseur.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25" marB="45725" marR="91450" marL="91450">
                    <a:solidFill>
                      <a:srgbClr val="FFCD00"/>
                    </a:solidFill>
                  </a:tcPr>
                </a:tc>
              </a:tr>
              <a:tr h="21215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unito Sans SemiBold"/>
                        <a:buNone/>
                      </a:pPr>
                      <a:r>
                        <a:rPr b="1" lang="fr-FR" sz="1800">
                          <a:solidFill>
                            <a:srgbClr val="000000"/>
                          </a:solidFill>
                          <a:latin typeface="Nunito Sans SemiBold"/>
                          <a:ea typeface="Nunito Sans SemiBold"/>
                          <a:cs typeface="Nunito Sans SemiBold"/>
                          <a:sym typeface="Nunito Sans SemiBold"/>
                        </a:rPr>
                        <a:t>7. Ressources clés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800"/>
                        <a:t>Humaines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4 développeurs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Compétences en développement web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Gestion de projet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Matérielles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4 ordinateurs personnels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Connexion</a:t>
                      </a:r>
                      <a:r>
                        <a:rPr lang="fr-FR" sz="1800"/>
                        <a:t> Internet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VPS / Hébergement cloud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Intellectuelles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Code source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Design UI/UX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Documentation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Base de données</a:t>
                      </a:r>
                      <a:endParaRPr sz="1800"/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Administratives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Documents légaux de l'entreprise</a:t>
                      </a:r>
                      <a:endParaRPr sz="18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fr-FR" sz="1800"/>
                        <a:t>Identité de marque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CD00"/>
                    </a:solidFill>
                  </a:tcPr>
                </a:tc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unito Sans SemiBold"/>
                        <a:buNone/>
                      </a:pPr>
                      <a:r>
                        <a:rPr b="1" lang="fr-FR" sz="1800">
                          <a:solidFill>
                            <a:srgbClr val="000000"/>
                          </a:solidFill>
                          <a:latin typeface="Nunito Sans SemiBold"/>
                          <a:ea typeface="Nunito Sans SemiBold"/>
                          <a:cs typeface="Nunito Sans SemiBold"/>
                          <a:sym typeface="Nunito Sans SemiBold"/>
                        </a:rPr>
                        <a:t>3. Canaux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Nunito Sans SemiBold"/>
                        <a:ea typeface="Nunito Sans SemiBold"/>
                        <a:cs typeface="Nunito Sans SemiBold"/>
                        <a:sym typeface="Nunito Sans SemiBold"/>
                      </a:endParaRPr>
                    </a:p>
                    <a:p>
                      <a:pPr indent="-3175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Site web Vitrine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Application mobile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Réseaux sociaux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Bouche-à-oreille</a:t>
                      </a:r>
                      <a:endParaRPr sz="180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Nunito Sans SemiBold"/>
                        <a:ea typeface="Nunito Sans SemiBold"/>
                        <a:cs typeface="Nunito Sans SemiBold"/>
                        <a:sym typeface="Nunito Sans SemiBold"/>
                      </a:endParaRPr>
                    </a:p>
                  </a:txBody>
                  <a:tcPr marT="45725" marB="45725" marR="91450" marL="91450">
                    <a:solidFill>
                      <a:srgbClr val="FFCD00"/>
                    </a:solidFill>
                  </a:tcPr>
                </a:tc>
                <a:tc vMerge="1"/>
              </a:tr>
              <a:tr h="16158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unito Sans SemiBold"/>
                        <a:buNone/>
                      </a:pPr>
                      <a:r>
                        <a:rPr b="1" lang="fr-FR" sz="1800">
                          <a:solidFill>
                            <a:srgbClr val="000000"/>
                          </a:solidFill>
                          <a:latin typeface="Nunito Sans SemiBold"/>
                          <a:ea typeface="Nunito Sans SemiBold"/>
                          <a:cs typeface="Nunito Sans SemiBold"/>
                          <a:sym typeface="Nunito Sans SemiBold"/>
                        </a:rPr>
                        <a:t>9. Structure de coûts</a:t>
                      </a:r>
                      <a:endParaRPr b="1"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Hébergement serveur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Nom de domaine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Développement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Marketing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Maintenance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Internet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Outils logiciels</a:t>
                      </a:r>
                      <a:endParaRPr sz="1800"/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Frais administratifs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CD00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unito Sans SemiBold"/>
                        <a:buNone/>
                      </a:pPr>
                      <a:r>
                        <a:rPr b="1" lang="fr-FR" sz="1800">
                          <a:solidFill>
                            <a:srgbClr val="000000"/>
                          </a:solidFill>
                          <a:latin typeface="Nunito Sans SemiBold"/>
                          <a:ea typeface="Nunito Sans SemiBold"/>
                          <a:cs typeface="Nunito Sans SemiBold"/>
                          <a:sym typeface="Nunito Sans SemiBold"/>
                        </a:rPr>
                        <a:t>5. Sources de revenus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-3175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fr-FR" sz="1800"/>
                        <a:t>Abonnement Premium organisateur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Commission sur la vente de billets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fr-FR" sz="1800"/>
                        <a:t>Publicités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CD00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08" name="Google Shape;108;p34"/>
          <p:cNvSpPr/>
          <p:nvPr/>
        </p:nvSpPr>
        <p:spPr>
          <a:xfrm>
            <a:off x="3374112" y="6011704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4"/>
          <p:cNvSpPr/>
          <p:nvPr/>
        </p:nvSpPr>
        <p:spPr>
          <a:xfrm>
            <a:off x="946190" y="6379489"/>
            <a:ext cx="45543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